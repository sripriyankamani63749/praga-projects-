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3" r:id="rId1"/>
  </p:sldMasterIdLst>
  <p:notesMasterIdLst>
    <p:notesMasterId r:id="rId20"/>
  </p:notesMasterIdLst>
  <p:sldIdLst>
    <p:sldId id="268" r:id="rId2"/>
    <p:sldId id="256" r:id="rId3"/>
    <p:sldId id="257" r:id="rId4"/>
    <p:sldId id="262" r:id="rId5"/>
    <p:sldId id="269" r:id="rId6"/>
    <p:sldId id="259" r:id="rId7"/>
    <p:sldId id="260" r:id="rId8"/>
    <p:sldId id="263" r:id="rId9"/>
    <p:sldId id="264" r:id="rId10"/>
    <p:sldId id="265" r:id="rId11"/>
    <p:sldId id="270" r:id="rId12"/>
    <p:sldId id="266" r:id="rId13"/>
    <p:sldId id="267" r:id="rId14"/>
    <p:sldId id="271" r:id="rId15"/>
    <p:sldId id="273" r:id="rId16"/>
    <p:sldId id="272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d848147de41dc6f/Desktop/EXCEL%20WORK%20BOOK/Churn-Dataset%20main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[Churn-Dataset main project.xlsx]CONTRACT !PivotTable2</c:name>
    <c:fmtId val="6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'CONTRACT '!$B$3:$B$4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'CONTRACT '!$A$5:$A$8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'CONTRACT '!$B$5:$B$8</c:f>
              <c:numCache>
                <c:formatCode>General</c:formatCode>
                <c:ptCount val="3"/>
                <c:pt idx="0">
                  <c:v>2220</c:v>
                </c:pt>
                <c:pt idx="1">
                  <c:v>1307</c:v>
                </c:pt>
                <c:pt idx="2">
                  <c:v>1647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41-44E6-AD5F-625680F38F52}"/>
            </c:ext>
          </c:extLst>
        </c:ser>
        <c:ser>
          <c:idx val="1"/>
          <c:order val="1"/>
          <c:tx>
            <c:strRef>
              <c:f>'CONTRACT '!$C$3:$C$4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'CONTRACT '!$A$5:$A$8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'CONTRACT '!$C$5:$C$8</c:f>
              <c:numCache>
                <c:formatCode>General</c:formatCode>
                <c:ptCount val="3"/>
                <c:pt idx="0">
                  <c:v>1655</c:v>
                </c:pt>
                <c:pt idx="1">
                  <c:v>166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41-44E6-AD5F-625680F38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907503"/>
        <c:axId val="90899343"/>
      </c:barChart>
      <c:catAx>
        <c:axId val="90907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899343"/>
        <c:crosses val="autoZero"/>
        <c:auto val="1"/>
        <c:lblAlgn val="ctr"/>
        <c:lblOffset val="100"/>
        <c:noMultiLvlLbl val="0"/>
      </c:catAx>
      <c:valAx>
        <c:axId val="9089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907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AEA3F-0495-412B-AE3A-1C41D8E36505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71FA2-2A45-4C45-87F7-495AF1AC15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17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71FA2-2A45-4C45-87F7-495AF1AC157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25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921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7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71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29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34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82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4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37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77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04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2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08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0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3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62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9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F7ED0E5-93A8-4B6E-8DD3-045015BB0857}" type="datetimeFigureOut">
              <a:rPr lang="en-IN" smtClean="0"/>
              <a:t>29-Oct-2025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C5216BB-CF02-47FF-9FF6-D1B8DDB61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96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usiness Growth with solid fill">
            <a:extLst>
              <a:ext uri="{FF2B5EF4-FFF2-40B4-BE49-F238E27FC236}">
                <a16:creationId xmlns:a16="http://schemas.microsoft.com/office/drawing/2014/main" id="{F0695270-35BC-A89E-5FE1-F2EB09172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7796" y="2597285"/>
            <a:ext cx="3550596" cy="27529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A0FAD8-FFB6-02E3-5F20-31E589B8D8DA}"/>
              </a:ext>
            </a:extLst>
          </p:cNvPr>
          <p:cNvSpPr txBox="1"/>
          <p:nvPr/>
        </p:nvSpPr>
        <p:spPr>
          <a:xfrm>
            <a:off x="3307404" y="1215957"/>
            <a:ext cx="47179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WE</a:t>
            </a:r>
            <a:r>
              <a:rPr lang="en-US" sz="6000" b="1" dirty="0">
                <a:latin typeface="Bahnschrift" panose="020B0502040204020203" pitchFamily="34" charset="0"/>
              </a:rPr>
              <a:t>LCO</a:t>
            </a:r>
            <a:r>
              <a:rPr lang="en-US" sz="60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ME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793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5000">
        <p14:switch dir="r"/>
      </p:transition>
    </mc:Choice>
    <mc:Fallback xmlns=""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3BAC9A-6D8B-6E69-E7C9-7F67D009D885}"/>
              </a:ext>
            </a:extLst>
          </p:cNvPr>
          <p:cNvSpPr/>
          <p:nvPr/>
        </p:nvSpPr>
        <p:spPr>
          <a:xfrm>
            <a:off x="5975980" y="2269184"/>
            <a:ext cx="5299858" cy="1751776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550"/>
              </a:lnSpc>
            </a:pPr>
            <a:r>
              <a:rPr lang="en-US" sz="4400" dirty="0">
                <a:solidFill>
                  <a:srgbClr val="F2E782"/>
                </a:solidFill>
                <a:latin typeface="Algerian" panose="04020705040A02060702" pitchFamily="82" charset="0"/>
                <a:ea typeface="Prata" pitchFamily="34" charset="-122"/>
                <a:cs typeface="Prata" pitchFamily="34" charset="-120"/>
              </a:rPr>
              <a:t>  Praga  HEALTH </a:t>
            </a:r>
            <a:r>
              <a:rPr lang="en-US" sz="4400" dirty="0" err="1">
                <a:solidFill>
                  <a:srgbClr val="F2E782"/>
                </a:solidFill>
                <a:latin typeface="Algerian" panose="04020705040A02060702" pitchFamily="82" charset="0"/>
                <a:ea typeface="Prata" pitchFamily="34" charset="-122"/>
                <a:cs typeface="Prata" pitchFamily="34" charset="-120"/>
              </a:rPr>
              <a:t>mIX</a:t>
            </a:r>
            <a:r>
              <a:rPr lang="en-US" sz="4400" dirty="0">
                <a:solidFill>
                  <a:srgbClr val="F2E782"/>
                </a:solidFill>
                <a:latin typeface="Algerian" panose="04020705040A02060702" pitchFamily="82" charset="0"/>
                <a:ea typeface="Prata" pitchFamily="34" charset="-122"/>
                <a:cs typeface="Prata" pitchFamily="34" charset="-120"/>
              </a:rPr>
              <a:t>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88C1AEC-36D4-4B27-7904-4A13583CB7F6}"/>
              </a:ext>
            </a:extLst>
          </p:cNvPr>
          <p:cNvSpPr/>
          <p:nvPr/>
        </p:nvSpPr>
        <p:spPr>
          <a:xfrm>
            <a:off x="578984" y="773344"/>
            <a:ext cx="4959298" cy="4851673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88900" sx="107000" sy="107000" algn="ctr" rotWithShape="0">
              <a:schemeClr val="accent4">
                <a:alpha val="4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709E7-FE96-2870-45E1-703227E33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5" b="8277"/>
          <a:stretch>
            <a:fillRect/>
          </a:stretch>
        </p:blipFill>
        <p:spPr>
          <a:xfrm>
            <a:off x="1353860" y="1581957"/>
            <a:ext cx="3334871" cy="312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1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40B6-5FF0-0C17-56DA-BE53D9DD0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91" y="816638"/>
            <a:ext cx="5451091" cy="1320800"/>
          </a:xfrm>
        </p:spPr>
        <p:txBody>
          <a:bodyPr>
            <a:normAutofit fontScale="90000"/>
          </a:bodyPr>
          <a:lstStyle/>
          <a:p>
            <a:r>
              <a:rPr lang="en-IN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E0A5-5DBB-1F39-6A92-099D2B1F4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702" y="2529191"/>
            <a:ext cx="8596668" cy="24518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Analyzed customer churn data to uncover    trends and high-risk segments. Leveraged data analytics tools to support targeted retention initiatives and enhance customer loyalty 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02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C5369-D91B-485C-0A08-8E6383D2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155" y="1930400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:Performed data cleaning and preprocessing in excel to ensure accurate churn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 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SQL queries on customer, services and billing data to uncovered churn pattern and top spending customers for retention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Applied python (Pandas , Seaborn , Matplotlib ) to explore churn trends, visualize key relationships and identify high-risk customer segments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Created interactive power bi dashboards to monitor churn metrics, visualize trend, and support data – driven retention decisions.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BC9A7E-EE01-78C4-AD96-801BD24B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utilized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51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D87602-34A4-7EDB-2BCE-2BDC28D57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260" y="1309563"/>
            <a:ext cx="5233480" cy="4931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A16778-BBBC-C0AF-279E-E20E36D471F4}"/>
              </a:ext>
            </a:extLst>
          </p:cNvPr>
          <p:cNvSpPr txBox="1"/>
          <p:nvPr/>
        </p:nvSpPr>
        <p:spPr>
          <a:xfrm>
            <a:off x="3628417" y="369651"/>
            <a:ext cx="50843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</a:rPr>
              <a:t>EXCEL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89503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6A75-09EB-75E2-1A93-8418006D0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418666" cy="645268"/>
          </a:xfrm>
        </p:spPr>
        <p:txBody>
          <a:bodyPr>
            <a:norm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 CLEANING 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8B4A5-DD1B-8DD8-75C1-3BA13B18F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93" y="3113900"/>
            <a:ext cx="8596668" cy="2742152"/>
          </a:xfrm>
        </p:spPr>
        <p:txBody>
          <a:bodyPr>
            <a:noAutofit/>
          </a:bodyPr>
          <a:lstStyle/>
          <a:p>
            <a:pPr>
              <a:buAutoNum type="arabicPeriod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 </a:t>
            </a:r>
          </a:p>
          <a:p>
            <a:pPr marL="0" indent="0">
              <a:buNone/>
            </a:pPr>
            <a:r>
              <a:rPr lang="en-IN" sz="2400" dirty="0">
                <a:latin typeface="Bahnschrift Light Condensed" panose="020B0502040204020203" pitchFamily="34" charset="0"/>
                <a:cs typeface="Times New Roman" panose="02020603050405020304" pitchFamily="18" charset="0"/>
              </a:rPr>
              <a:t>         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Eliminated repeated customer records to ensure data accuracy and uniqueness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3200" b="1" dirty="0">
                <a:latin typeface="Bahnschrift Condensed" panose="020B0502040204020203" pitchFamily="34" charset="0"/>
              </a:rPr>
              <a:t>2.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any blank or missing entries in Total charges and replace or fill them to ensure complete and accurate data for analysis.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86606055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8DBBEE-B318-9815-5A14-B083221EF6DC}"/>
              </a:ext>
            </a:extLst>
          </p:cNvPr>
          <p:cNvSpPr/>
          <p:nvPr/>
        </p:nvSpPr>
        <p:spPr>
          <a:xfrm>
            <a:off x="1099225" y="1736387"/>
            <a:ext cx="4620638" cy="33852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C61E1D5-ECBA-D3A7-FA01-15F28100D0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6880369"/>
              </p:ext>
            </p:extLst>
          </p:nvPr>
        </p:nvGraphicFramePr>
        <p:xfrm>
          <a:off x="1222442" y="214008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35E550-08D4-8A9D-3850-ACE8424B4427}"/>
              </a:ext>
            </a:extLst>
          </p:cNvPr>
          <p:cNvSpPr txBox="1"/>
          <p:nvPr/>
        </p:nvSpPr>
        <p:spPr>
          <a:xfrm>
            <a:off x="6264613" y="1896894"/>
            <a:ext cx="52626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Encouraging customers to move from month-to-month plans to yearly contracts can help reduce churn.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contract has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churn 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customers with short-term plans are more likely to leave.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Year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TwoYear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contracts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churn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long-term customers are more loyal and stable.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811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007C79-B866-9C4D-9F75-ECCD3914E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485" y="1115033"/>
            <a:ext cx="4244908" cy="424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3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D6AB14-9165-8926-806E-59BF3ADA8DF7}"/>
              </a:ext>
            </a:extLst>
          </p:cNvPr>
          <p:cNvSpPr txBox="1"/>
          <p:nvPr/>
        </p:nvSpPr>
        <p:spPr>
          <a:xfrm>
            <a:off x="485303" y="1533622"/>
            <a:ext cx="47373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ROUND(SUM(CASE WHEN Churn='Yes' THEN 1 ELSE 0 END)*100.0/COUNT(*), 2)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ChurnRate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ChurnRate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84C8F6C-065A-72F4-3F68-F4C7D56B1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384566"/>
              </p:ext>
            </p:extLst>
          </p:nvPr>
        </p:nvGraphicFramePr>
        <p:xfrm>
          <a:off x="5593402" y="1420238"/>
          <a:ext cx="6200844" cy="2845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422">
                  <a:extLst>
                    <a:ext uri="{9D8B030D-6E8A-4147-A177-3AD203B41FA5}">
                      <a16:colId xmlns:a16="http://schemas.microsoft.com/office/drawing/2014/main" val="3627391050"/>
                    </a:ext>
                  </a:extLst>
                </a:gridCol>
                <a:gridCol w="3100422">
                  <a:extLst>
                    <a:ext uri="{9D8B030D-6E8A-4147-A177-3AD203B41FA5}">
                      <a16:colId xmlns:a16="http://schemas.microsoft.com/office/drawing/2014/main" val="2953477375"/>
                    </a:ext>
                  </a:extLst>
                </a:gridCol>
              </a:tblGrid>
              <a:tr h="569068">
                <a:tc>
                  <a:txBody>
                    <a:bodyPr/>
                    <a:lstStyle/>
                    <a:p>
                      <a:r>
                        <a:rPr lang="en-US" dirty="0"/>
                        <a:t>Payment Method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ChurnRate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985825"/>
                  </a:ext>
                </a:extLst>
              </a:tr>
              <a:tr h="569068">
                <a:tc>
                  <a:txBody>
                    <a:bodyPr/>
                    <a:lstStyle/>
                    <a:p>
                      <a:r>
                        <a:rPr lang="en-US" dirty="0"/>
                        <a:t>Electronic Check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45.29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35337"/>
                  </a:ext>
                </a:extLst>
              </a:tr>
              <a:tr h="569068">
                <a:tc>
                  <a:txBody>
                    <a:bodyPr/>
                    <a:lstStyle/>
                    <a:p>
                      <a:r>
                        <a:rPr lang="en-US" dirty="0"/>
                        <a:t>Mailed Check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485691"/>
                  </a:ext>
                </a:extLst>
              </a:tr>
              <a:tr h="569068">
                <a:tc>
                  <a:txBody>
                    <a:bodyPr/>
                    <a:lstStyle/>
                    <a:p>
                      <a:r>
                        <a:rPr lang="en-US" dirty="0"/>
                        <a:t>Bank transfer (automatic)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16.73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915306"/>
                  </a:ext>
                </a:extLst>
              </a:tr>
              <a:tr h="569068">
                <a:tc>
                  <a:txBody>
                    <a:bodyPr/>
                    <a:lstStyle/>
                    <a:p>
                      <a:r>
                        <a:rPr lang="en-US" dirty="0"/>
                        <a:t>Credit Card (automatic 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770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816E6FE-3123-2185-12B5-5D514803D4C9}"/>
              </a:ext>
            </a:extLst>
          </p:cNvPr>
          <p:cNvSpPr txBox="1"/>
          <p:nvPr/>
        </p:nvSpPr>
        <p:spPr>
          <a:xfrm>
            <a:off x="2298971" y="5343114"/>
            <a:ext cx="7837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SQL query calculates churn rate for each payment method.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which payment type has the highest customer churn.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15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34B979-664A-D6E9-A0BF-AE2CA2D94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089169"/>
              </p:ext>
            </p:extLst>
          </p:nvPr>
        </p:nvGraphicFramePr>
        <p:xfrm>
          <a:off x="5336063" y="321012"/>
          <a:ext cx="4969950" cy="4522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6610">
                  <a:extLst>
                    <a:ext uri="{9D8B030D-6E8A-4147-A177-3AD203B41FA5}">
                      <a16:colId xmlns:a16="http://schemas.microsoft.com/office/drawing/2014/main" val="3744839210"/>
                    </a:ext>
                  </a:extLst>
                </a:gridCol>
                <a:gridCol w="2543340">
                  <a:extLst>
                    <a:ext uri="{9D8B030D-6E8A-4147-A177-3AD203B41FA5}">
                      <a16:colId xmlns:a16="http://schemas.microsoft.com/office/drawing/2014/main" val="309052720"/>
                    </a:ext>
                  </a:extLst>
                </a:gridCol>
              </a:tblGrid>
              <a:tr h="374006">
                <a:tc>
                  <a:txBody>
                    <a:bodyPr/>
                    <a:lstStyle/>
                    <a:p>
                      <a:r>
                        <a:rPr lang="en-US" dirty="0"/>
                        <a:t>Customer ID 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Charges</a:t>
                      </a:r>
                      <a:endParaRPr lang="en-IN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432883715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2889-FPWRM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8684.8</a:t>
                      </a:r>
                      <a:endParaRPr lang="en-IN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3390580979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7569-NMZYQ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8672.45</a:t>
                      </a:r>
                      <a:endParaRPr lang="en-IN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4292136569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9739-JLPQJ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8670.1</a:t>
                      </a:r>
                      <a:endParaRPr lang="en-IN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560432359"/>
                  </a:ext>
                </a:extLst>
              </a:tr>
              <a:tr h="51470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9788-HNGUT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8594.4</a:t>
                      </a:r>
                      <a:endParaRPr lang="en-IN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553342650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8879-XUAHX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8564.75</a:t>
                      </a:r>
                      <a:endParaRPr lang="en-IN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3537603633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9924-JPRMC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8547.15</a:t>
                      </a:r>
                      <a:endParaRPr lang="en-IN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3746115092"/>
                  </a:ext>
                </a:extLst>
              </a:tr>
              <a:tr h="514701">
                <a:tc>
                  <a:txBody>
                    <a:bodyPr/>
                    <a:lstStyle/>
                    <a:p>
                      <a:r>
                        <a:rPr lang="en-US" dirty="0"/>
                        <a:t>0675-NCDYU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8543.25</a:t>
                      </a:r>
                    </a:p>
                    <a:p>
                      <a:endParaRPr lang="en-US" dirty="0"/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4150216714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6650-BWFRT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8529.5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159407372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0164-APGRB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8496.7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2069236761"/>
                  </a:ext>
                </a:extLst>
              </a:tr>
              <a:tr h="374187">
                <a:tc>
                  <a:txBody>
                    <a:bodyPr/>
                    <a:lstStyle/>
                    <a:p>
                      <a:r>
                        <a:rPr lang="en-US" dirty="0"/>
                        <a:t>1488-PBLJN</a:t>
                      </a:r>
                      <a:endParaRPr lang="en-IN" dirty="0"/>
                    </a:p>
                  </a:txBody>
                  <a:tcPr marL="83127" marR="83127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8477.7</a:t>
                      </a:r>
                    </a:p>
                  </a:txBody>
                  <a:tcPr marL="83127" marR="83127"/>
                </a:tc>
                <a:extLst>
                  <a:ext uri="{0D108BD9-81ED-4DB2-BD59-A6C34878D82A}">
                    <a16:rowId xmlns:a16="http://schemas.microsoft.com/office/drawing/2014/main" val="30443729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9559521-23A2-24C3-8922-6BE9F2566AC2}"/>
              </a:ext>
            </a:extLst>
          </p:cNvPr>
          <p:cNvSpPr txBox="1"/>
          <p:nvPr/>
        </p:nvSpPr>
        <p:spPr>
          <a:xfrm>
            <a:off x="1322961" y="2047770"/>
            <a:ext cx="32684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  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customer ID,   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Total Charges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Billing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Total Charges DESC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10; 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2A6F16-0D29-174A-FA0F-6AFC3F225F03}"/>
              </a:ext>
            </a:extLst>
          </p:cNvPr>
          <p:cNvSpPr txBox="1"/>
          <p:nvPr/>
        </p:nvSpPr>
        <p:spPr>
          <a:xfrm>
            <a:off x="877111" y="5612860"/>
            <a:ext cx="9288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retrieves the top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highest total charges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the company identify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and loyalty programs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273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F941FD-A1B6-830F-7381-D50D37CB1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769" y="1775704"/>
            <a:ext cx="4498637" cy="4498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42FA15-CC67-1E5B-A17F-8EFD6D0BED83}"/>
              </a:ext>
            </a:extLst>
          </p:cNvPr>
          <p:cNvSpPr txBox="1"/>
          <p:nvPr/>
        </p:nvSpPr>
        <p:spPr>
          <a:xfrm>
            <a:off x="3774332" y="583659"/>
            <a:ext cx="3453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2">
                    <a:lumMod val="40000"/>
                    <a:lumOff val="60000"/>
                  </a:schemeClr>
                </a:solidFill>
                <a:latin typeface="Georgia" panose="02040502050405020303" pitchFamily="18" charset="0"/>
              </a:rPr>
              <a:t>PYTHON</a:t>
            </a:r>
            <a:r>
              <a:rPr lang="en-US" sz="4800" dirty="0">
                <a:latin typeface="Georgia" panose="02040502050405020303" pitchFamily="18" charset="0"/>
              </a:rPr>
              <a:t> </a:t>
            </a:r>
            <a:endParaRPr lang="en-IN" sz="4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36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B809A-10B5-5824-F787-9DF1D6582BBE}"/>
              </a:ext>
            </a:extLst>
          </p:cNvPr>
          <p:cNvSpPr txBox="1"/>
          <p:nvPr/>
        </p:nvSpPr>
        <p:spPr>
          <a:xfrm>
            <a:off x="496111" y="2062265"/>
            <a:ext cx="53988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sns.boxplot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(x='Churn', y='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data=dataset)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('Monthly Charges vs Churn')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BF5E55-631B-7A6D-2091-4EE556E8C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231" y="1064774"/>
            <a:ext cx="6204119" cy="419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1F4726-69D8-20F0-4538-53FCB20BF6AF}"/>
              </a:ext>
            </a:extLst>
          </p:cNvPr>
          <p:cNvSpPr txBox="1"/>
          <p:nvPr/>
        </p:nvSpPr>
        <p:spPr>
          <a:xfrm>
            <a:off x="340468" y="2159539"/>
            <a:ext cx="35797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dataset.corr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numeric_only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sns.heatmap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coolwarm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('Correlation Heatmap')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C8AA9-C369-95F3-A5F6-0AF779524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545" y="404103"/>
            <a:ext cx="6079787" cy="530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2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C5A4C6-C324-28CC-C720-B5FF5FB01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233" y="946013"/>
            <a:ext cx="7378259" cy="413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8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3DF65C-A223-FFE3-6AAB-8B391187E1A6}"/>
              </a:ext>
            </a:extLst>
          </p:cNvPr>
          <p:cNvSpPr txBox="1"/>
          <p:nvPr/>
        </p:nvSpPr>
        <p:spPr>
          <a:xfrm>
            <a:off x="1687749" y="5603132"/>
            <a:ext cx="9187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shows an overview of total customers, sum of  tenure, and  sum of        monthly charges with filter options.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59B93-01AD-EF8F-96A0-97DF3EC26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579" y="122243"/>
            <a:ext cx="9756842" cy="53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3929"/>
      </p:ext>
    </p:extLst>
  </p:cSld>
  <p:clrMapOvr>
    <a:masterClrMapping/>
  </p:clrMapOvr>
  <p:transition spd="slow">
    <p:wheel spokes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B0F120-6CFC-67C8-380E-8D991B856548}"/>
              </a:ext>
            </a:extLst>
          </p:cNvPr>
          <p:cNvSpPr txBox="1"/>
          <p:nvPr/>
        </p:nvSpPr>
        <p:spPr>
          <a:xfrm>
            <a:off x="1478604" y="5583677"/>
            <a:ext cx="8667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similar by gender, higher for short-term contracts and some payment methods, moderate for senior citizens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0EC08-B54A-A8BB-2B8D-85DE45DB8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728" y="83334"/>
            <a:ext cx="9263604" cy="53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15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0E4C66-B735-E08D-9278-C3557E111A77}"/>
              </a:ext>
            </a:extLst>
          </p:cNvPr>
          <p:cNvSpPr txBox="1"/>
          <p:nvPr/>
        </p:nvSpPr>
        <p:spPr>
          <a:xfrm>
            <a:off x="1643974" y="5807413"/>
            <a:ext cx="8268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Non-churned customers have slightly higher tickets and charges; top 5 customers drive most revenue.</a:t>
            </a:r>
            <a:endParaRPr lang="en-IN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59B6D-85CA-F992-E1CF-7601427A9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10" y="86737"/>
            <a:ext cx="9650338" cy="537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2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1B5AAE-7F0F-8372-684A-D15E72968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574" y="347663"/>
            <a:ext cx="5045008" cy="4188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F402F2-A441-2295-F92E-0CDCD43003B6}"/>
              </a:ext>
            </a:extLst>
          </p:cNvPr>
          <p:cNvSpPr txBox="1"/>
          <p:nvPr/>
        </p:nvSpPr>
        <p:spPr>
          <a:xfrm>
            <a:off x="2480553" y="5048655"/>
            <a:ext cx="6420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SRIPRIYANKA M</a:t>
            </a:r>
            <a:endParaRPr lang="en-IN" sz="5400" b="1" i="1" dirty="0">
              <a:solidFill>
                <a:schemeClr val="accent2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547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596</TotalTime>
  <Words>512</Words>
  <Application>Microsoft Office PowerPoint</Application>
  <PresentationFormat>Widescreen</PresentationFormat>
  <Paragraphs>80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Algerian</vt:lpstr>
      <vt:lpstr>Arial</vt:lpstr>
      <vt:lpstr>Bahnschrift</vt:lpstr>
      <vt:lpstr>Bahnschrift Condensed</vt:lpstr>
      <vt:lpstr>Bahnschrift Light Condensed</vt:lpstr>
      <vt:lpstr>Bell MT</vt:lpstr>
      <vt:lpstr>Calibri</vt:lpstr>
      <vt:lpstr>Calibri Light</vt:lpstr>
      <vt:lpstr>Georgia</vt:lpstr>
      <vt:lpstr>Times New Roman</vt:lpstr>
      <vt:lpstr>Wingdings</vt:lpstr>
      <vt:lpstr>Celestial</vt:lpstr>
      <vt:lpstr>PowerPoint Presentation</vt:lpstr>
      <vt:lpstr>PowerPoint Presentation</vt:lpstr>
      <vt:lpstr>Project Overview</vt:lpstr>
      <vt:lpstr>Tools utilized </vt:lpstr>
      <vt:lpstr>PowerPoint Presentation</vt:lpstr>
      <vt:lpstr>EXCEL DATA CLEANING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sripriyanka ganesh</dc:creator>
  <cp:lastModifiedBy>sripriyanka ganesh</cp:lastModifiedBy>
  <cp:revision>2</cp:revision>
  <dcterms:created xsi:type="dcterms:W3CDTF">2025-10-13T14:29:37Z</dcterms:created>
  <dcterms:modified xsi:type="dcterms:W3CDTF">2025-10-29T02:59:54Z</dcterms:modified>
</cp:coreProperties>
</file>